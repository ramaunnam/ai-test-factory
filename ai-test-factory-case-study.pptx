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260" y="2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adevi Unnam" userId="1cd84206-5da7-4ff0-9604-ba8e16afc234" providerId="ADAL" clId="{8A01EDC1-801B-47CC-8D1A-462CBEB10D81}"/>
    <pc:docChg chg="modSld">
      <pc:chgData name="Ramadevi Unnam" userId="1cd84206-5da7-4ff0-9604-ba8e16afc234" providerId="ADAL" clId="{8A01EDC1-801B-47CC-8D1A-462CBEB10D81}" dt="2026-10-21T12:17:55.334" v="0" actId="1076"/>
      <pc:docMkLst>
        <pc:docMk/>
      </pc:docMkLst>
      <pc:sldChg chg="modSp mod">
        <pc:chgData name="Ramadevi Unnam" userId="1cd84206-5da7-4ff0-9604-ba8e16afc234" providerId="ADAL" clId="{8A01EDC1-801B-47CC-8D1A-462CBEB10D81}" dt="2026-10-21T12:17:55.334" v="0" actId="1076"/>
        <pc:sldMkLst>
          <pc:docMk/>
          <pc:sldMk cId="0" sldId="256"/>
        </pc:sldMkLst>
        <pc:spChg chg="mod">
          <ac:chgData name="Ramadevi Unnam" userId="1cd84206-5da7-4ff0-9604-ba8e16afc234" providerId="ADAL" clId="{8A01EDC1-801B-47CC-8D1A-462CBEB10D81}" dt="2026-10-21T12:17:55.334" v="0" actId="1076"/>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3723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069592" cy="82296"/>
          </a:xfrm>
          <a:prstGeom prst="rect">
            <a:avLst/>
          </a:prstGeom>
          <a:solidFill>
            <a:srgbClr val="C8102E"/>
          </a:solidFill>
          <a:ln/>
        </p:spPr>
        <p:txBody>
          <a:bodyPr/>
          <a:lstStyle/>
          <a:p>
            <a:endParaRPr lang="en-US"/>
          </a:p>
        </p:txBody>
      </p:sp>
      <p:sp>
        <p:nvSpPr>
          <p:cNvPr id="3" name="Shape 1"/>
          <p:cNvSpPr/>
          <p:nvPr/>
        </p:nvSpPr>
        <p:spPr>
          <a:xfrm>
            <a:off x="7069592" y="0"/>
            <a:ext cx="5119360" cy="82296"/>
          </a:xfrm>
          <a:prstGeom prst="rect">
            <a:avLst/>
          </a:prstGeom>
          <a:solidFill>
            <a:srgbClr val="2E8B82"/>
          </a:solidFill>
          <a:ln/>
        </p:spPr>
        <p:txBody>
          <a:bodyPr/>
          <a:lstStyle/>
          <a:p>
            <a:endParaRPr lang="en-US"/>
          </a:p>
        </p:txBody>
      </p:sp>
      <p:sp>
        <p:nvSpPr>
          <p:cNvPr id="4" name="Text 2"/>
          <p:cNvSpPr txBox="1"/>
          <p:nvPr/>
        </p:nvSpPr>
        <p:spPr>
          <a:xfrm>
            <a:off x="411480" y="182880"/>
            <a:ext cx="11365992" cy="457200"/>
          </a:xfrm>
          <a:prstGeom prst="rect">
            <a:avLst/>
          </a:prstGeom>
          <a:noFill/>
          <a:ln/>
        </p:spPr>
        <p:txBody>
          <a:bodyPr wrap="square" lIns="0" tIns="0" rIns="0" bIns="0" rtlCol="0" anchor="ctr"/>
          <a:lstStyle/>
          <a:p>
            <a:pPr marL="0" indent="0">
              <a:buNone/>
            </a:pPr>
            <a:r>
              <a:rPr lang="en-US" sz="2200" b="1" dirty="0">
                <a:solidFill>
                  <a:srgbClr val="C8102E"/>
                </a:solidFill>
                <a:latin typeface="Arial" pitchFamily="34" charset="0"/>
                <a:ea typeface="Arial" pitchFamily="34" charset="-122"/>
                <a:cs typeface="Arial" pitchFamily="34" charset="-120"/>
              </a:rPr>
              <a:t>CASE STUDY: </a:t>
            </a:r>
            <a:r>
              <a:rPr lang="en-US" sz="2200" b="1" dirty="0">
                <a:solidFill>
                  <a:srgbClr val="1B2A4A"/>
                </a:solidFill>
                <a:latin typeface="Arial" pitchFamily="34" charset="0"/>
                <a:ea typeface="Arial" pitchFamily="34" charset="-122"/>
                <a:cs typeface="Arial" pitchFamily="34" charset="-120"/>
              </a:rPr>
              <a:t>AI TEST FACTORY FOR A MULTI-SYSTEM MANUFACTURING LANDSCAPE</a:t>
            </a:r>
            <a:endParaRPr lang="en-US" sz="2200" dirty="0"/>
          </a:p>
        </p:txBody>
      </p:sp>
      <p:sp>
        <p:nvSpPr>
          <p:cNvPr id="5" name="Text 3"/>
          <p:cNvSpPr txBox="1"/>
          <p:nvPr/>
        </p:nvSpPr>
        <p:spPr>
          <a:xfrm>
            <a:off x="411480" y="731520"/>
            <a:ext cx="11365992" cy="274320"/>
          </a:xfrm>
          <a:prstGeom prst="rect">
            <a:avLst/>
          </a:prstGeom>
          <a:noFill/>
          <a:ln/>
        </p:spPr>
        <p:txBody>
          <a:bodyPr wrap="square" lIns="0" tIns="0" rIns="0" bIns="0" rtlCol="0" anchor="ctr"/>
          <a:lstStyle/>
          <a:p>
            <a:pPr marL="0" indent="0">
              <a:buNone/>
            </a:pPr>
            <a:r>
              <a:rPr lang="en-US" sz="1300" b="1" dirty="0">
                <a:solidFill>
                  <a:srgbClr val="2E8B82"/>
                </a:solidFill>
                <a:latin typeface="Arial" pitchFamily="34" charset="0"/>
                <a:ea typeface="Arial" pitchFamily="34" charset="-122"/>
                <a:cs typeface="Arial" pitchFamily="34" charset="-120"/>
              </a:rPr>
              <a:t>CLIENT: </a:t>
            </a:r>
            <a:r>
              <a:rPr lang="en-US" sz="1300" dirty="0">
                <a:solidFill>
                  <a:srgbClr val="2E8B82"/>
                </a:solidFill>
                <a:latin typeface="Arial" pitchFamily="34" charset="0"/>
                <a:ea typeface="Arial" pitchFamily="34" charset="-122"/>
                <a:cs typeface="Arial" pitchFamily="34" charset="-120"/>
              </a:rPr>
              <a:t>Steel &amp; Recycling Process Manufacturer   |   </a:t>
            </a:r>
            <a:r>
              <a:rPr lang="en-US" sz="1300" b="1" dirty="0">
                <a:solidFill>
                  <a:srgbClr val="2E8B82"/>
                </a:solidFill>
                <a:latin typeface="Arial" pitchFamily="34" charset="0"/>
                <a:ea typeface="Arial" pitchFamily="34" charset="-122"/>
                <a:cs typeface="Arial" pitchFamily="34" charset="-120"/>
              </a:rPr>
              <a:t>DOMAIN: </a:t>
            </a:r>
            <a:r>
              <a:rPr lang="en-US" sz="1300" dirty="0">
                <a:solidFill>
                  <a:srgbClr val="2E8B82"/>
                </a:solidFill>
                <a:latin typeface="Arial" pitchFamily="34" charset="0"/>
                <a:ea typeface="Arial" pitchFamily="34" charset="-122"/>
                <a:cs typeface="Arial" pitchFamily="34" charset="-120"/>
              </a:rPr>
              <a:t>Process Manufacturing (Steel, Recycling &amp; Finance Operations)</a:t>
            </a:r>
            <a:endParaRPr lang="en-US" sz="1300" dirty="0"/>
          </a:p>
        </p:txBody>
      </p:sp>
      <p:sp>
        <p:nvSpPr>
          <p:cNvPr id="6" name="Shape 4"/>
          <p:cNvSpPr/>
          <p:nvPr/>
        </p:nvSpPr>
        <p:spPr>
          <a:xfrm>
            <a:off x="411480" y="1005840"/>
            <a:ext cx="5545836" cy="1783080"/>
          </a:xfrm>
          <a:prstGeom prst="rect">
            <a:avLst/>
          </a:prstGeom>
          <a:solidFill>
            <a:srgbClr val="FFFFFF"/>
          </a:solidFill>
          <a:ln w="12700">
            <a:solidFill>
              <a:srgbClr val="D8DCE2"/>
            </a:solidFill>
            <a:prstDash val="solid"/>
          </a:ln>
        </p:spPr>
        <p:txBody>
          <a:bodyPr/>
          <a:lstStyle/>
          <a:p>
            <a:endParaRPr lang="en-US"/>
          </a:p>
        </p:txBody>
      </p:sp>
      <p:sp>
        <p:nvSpPr>
          <p:cNvPr id="7" name="Shape 5"/>
          <p:cNvSpPr/>
          <p:nvPr/>
        </p:nvSpPr>
        <p:spPr>
          <a:xfrm>
            <a:off x="411480" y="1005840"/>
            <a:ext cx="54864" cy="1783080"/>
          </a:xfrm>
          <a:prstGeom prst="rect">
            <a:avLst/>
          </a:prstGeom>
          <a:solidFill>
            <a:srgbClr val="C8102E"/>
          </a:solidFill>
          <a:ln/>
        </p:spPr>
        <p:txBody>
          <a:bodyPr/>
          <a:lstStyle/>
          <a:p>
            <a:endParaRPr lang="en-US"/>
          </a:p>
        </p:txBody>
      </p:sp>
      <p:sp>
        <p:nvSpPr>
          <p:cNvPr id="8" name="Text 6"/>
          <p:cNvSpPr txBox="1"/>
          <p:nvPr/>
        </p:nvSpPr>
        <p:spPr>
          <a:xfrm>
            <a:off x="594360" y="1097280"/>
            <a:ext cx="5180076" cy="274320"/>
          </a:xfrm>
          <a:prstGeom prst="rect">
            <a:avLst/>
          </a:prstGeom>
          <a:noFill/>
          <a:ln/>
        </p:spPr>
        <p:txBody>
          <a:bodyPr wrap="square" lIns="0" tIns="0" rIns="0" bIns="0" rtlCol="0" anchor="ctr"/>
          <a:lstStyle/>
          <a:p>
            <a:pPr marL="0" indent="0">
              <a:buNone/>
            </a:pPr>
            <a:r>
              <a:rPr lang="en-US" sz="1400" b="1" dirty="0">
                <a:solidFill>
                  <a:srgbClr val="1B2A4A"/>
                </a:solidFill>
                <a:latin typeface="Arial" pitchFamily="34" charset="0"/>
                <a:ea typeface="Arial" pitchFamily="34" charset="-122"/>
                <a:cs typeface="Arial" pitchFamily="34" charset="-120"/>
              </a:rPr>
              <a:t>The Challenge</a:t>
            </a:r>
            <a:endParaRPr lang="en-US" sz="1400" dirty="0"/>
          </a:p>
        </p:txBody>
      </p:sp>
      <p:sp>
        <p:nvSpPr>
          <p:cNvPr id="9" name="Text 7"/>
          <p:cNvSpPr txBox="1"/>
          <p:nvPr/>
        </p:nvSpPr>
        <p:spPr>
          <a:xfrm>
            <a:off x="594360" y="1389888"/>
            <a:ext cx="5180076" cy="1280160"/>
          </a:xfrm>
          <a:prstGeom prst="rect">
            <a:avLst/>
          </a:prstGeom>
          <a:noFill/>
          <a:ln/>
        </p:spPr>
        <p:txBody>
          <a:bodyPr wrap="square" lIns="0" tIns="0" rIns="0" bIns="0" rtlCol="0" anchor="t"/>
          <a:lstStyle/>
          <a:p>
            <a:pPr marL="0" indent="0">
              <a:lnSpc>
                <a:spcPct val="108000"/>
              </a:lnSpc>
              <a:buNone/>
            </a:pPr>
            <a:r>
              <a:rPr lang="en-US" sz="1100" dirty="0">
                <a:solidFill>
                  <a:srgbClr val="3C4A5E"/>
                </a:solidFill>
                <a:latin typeface="Arial" pitchFamily="34" charset="0"/>
                <a:ea typeface="Arial" pitchFamily="34" charset="-122"/>
                <a:cs typeface="Arial" pitchFamily="34" charset="-120"/>
              </a:rPr>
              <a:t>Testing across 13 live systems was 100% manual: key users clicked through every screen by hand, there was no standard report at the end, and the month-end freeze took 10 days because nobody could prove the landscape was safe. A weight that changed between the weighbridge and SAP, a tonne booked as a kilogram, a missing message, a vendor paid without a sanctions check — none of it was traceable to its cause until it was too late.</a:t>
            </a:r>
            <a:endParaRPr lang="en-US" sz="1100" dirty="0"/>
          </a:p>
        </p:txBody>
      </p:sp>
      <p:sp>
        <p:nvSpPr>
          <p:cNvPr id="10" name="Shape 8"/>
          <p:cNvSpPr/>
          <p:nvPr/>
        </p:nvSpPr>
        <p:spPr>
          <a:xfrm>
            <a:off x="6231636" y="1005840"/>
            <a:ext cx="5545836" cy="1783080"/>
          </a:xfrm>
          <a:prstGeom prst="rect">
            <a:avLst/>
          </a:prstGeom>
          <a:solidFill>
            <a:srgbClr val="FFFFFF"/>
          </a:solidFill>
          <a:ln w="12700">
            <a:solidFill>
              <a:srgbClr val="D8DCE2"/>
            </a:solidFill>
            <a:prstDash val="solid"/>
          </a:ln>
        </p:spPr>
        <p:txBody>
          <a:bodyPr/>
          <a:lstStyle/>
          <a:p>
            <a:endParaRPr lang="en-US"/>
          </a:p>
        </p:txBody>
      </p:sp>
      <p:sp>
        <p:nvSpPr>
          <p:cNvPr id="11" name="Shape 9"/>
          <p:cNvSpPr/>
          <p:nvPr/>
        </p:nvSpPr>
        <p:spPr>
          <a:xfrm>
            <a:off x="6231636" y="1005840"/>
            <a:ext cx="54864" cy="1783080"/>
          </a:xfrm>
          <a:prstGeom prst="rect">
            <a:avLst/>
          </a:prstGeom>
          <a:solidFill>
            <a:srgbClr val="2E8B82"/>
          </a:solidFill>
          <a:ln/>
        </p:spPr>
        <p:txBody>
          <a:bodyPr/>
          <a:lstStyle/>
          <a:p>
            <a:endParaRPr lang="en-US"/>
          </a:p>
        </p:txBody>
      </p:sp>
      <p:sp>
        <p:nvSpPr>
          <p:cNvPr id="12" name="Text 10"/>
          <p:cNvSpPr txBox="1"/>
          <p:nvPr/>
        </p:nvSpPr>
        <p:spPr>
          <a:xfrm>
            <a:off x="6414516" y="1097280"/>
            <a:ext cx="5180076" cy="274320"/>
          </a:xfrm>
          <a:prstGeom prst="rect">
            <a:avLst/>
          </a:prstGeom>
          <a:noFill/>
          <a:ln/>
        </p:spPr>
        <p:txBody>
          <a:bodyPr wrap="square" lIns="0" tIns="0" rIns="0" bIns="0" rtlCol="0" anchor="ctr"/>
          <a:lstStyle/>
          <a:p>
            <a:pPr marL="0" indent="0">
              <a:buNone/>
            </a:pPr>
            <a:r>
              <a:rPr lang="en-US" sz="1400" b="1" dirty="0">
                <a:solidFill>
                  <a:srgbClr val="1B2A4A"/>
                </a:solidFill>
                <a:latin typeface="Arial" pitchFamily="34" charset="0"/>
                <a:ea typeface="Arial" pitchFamily="34" charset="-122"/>
                <a:cs typeface="Arial" pitchFamily="34" charset="-120"/>
              </a:rPr>
              <a:t>The Solution</a:t>
            </a:r>
            <a:endParaRPr lang="en-US" sz="1400" dirty="0"/>
          </a:p>
        </p:txBody>
      </p:sp>
      <p:sp>
        <p:nvSpPr>
          <p:cNvPr id="13" name="Text 11"/>
          <p:cNvSpPr txBox="1"/>
          <p:nvPr/>
        </p:nvSpPr>
        <p:spPr>
          <a:xfrm>
            <a:off x="6414516" y="1389888"/>
            <a:ext cx="5180076" cy="1280160"/>
          </a:xfrm>
          <a:prstGeom prst="rect">
            <a:avLst/>
          </a:prstGeom>
          <a:noFill/>
          <a:ln/>
        </p:spPr>
        <p:txBody>
          <a:bodyPr wrap="square" lIns="0" tIns="0" rIns="0" bIns="0" rtlCol="0" anchor="t"/>
          <a:lstStyle/>
          <a:p>
            <a:pPr marL="0" indent="0">
              <a:lnSpc>
                <a:spcPct val="108000"/>
              </a:lnSpc>
              <a:buNone/>
            </a:pPr>
            <a:r>
              <a:rPr lang="en-US" sz="1100" dirty="0">
                <a:solidFill>
                  <a:srgbClr val="3C4A5E"/>
                </a:solidFill>
                <a:latin typeface="Arial" pitchFamily="34" charset="0"/>
                <a:ea typeface="Arial" pitchFamily="34" charset="-122"/>
                <a:cs typeface="Arial" pitchFamily="34" charset="-120"/>
              </a:rPr>
              <a:t>AI Test Factory learns the real process from recordings, system logs and written procedures, then an agent writes positive, negative and re-test scenarios for key users to approve. Scheduled runs heal broken steps themselves. Fourteen live checks compare records across 22 tables and 19 interfaces every few minutes, naming the exact cause and record. One confidence score drives a GO / CONDITIONAL / NO-GO release gate, with a sealed, auditor-ready evidence pack per release.</a:t>
            </a:r>
            <a:endParaRPr lang="en-US" sz="1100" dirty="0"/>
          </a:p>
        </p:txBody>
      </p:sp>
      <p:sp>
        <p:nvSpPr>
          <p:cNvPr id="14" name="Text 12"/>
          <p:cNvSpPr txBox="1"/>
          <p:nvPr/>
        </p:nvSpPr>
        <p:spPr>
          <a:xfrm>
            <a:off x="411480" y="2990088"/>
            <a:ext cx="11365992" cy="274320"/>
          </a:xfrm>
          <a:prstGeom prst="rect">
            <a:avLst/>
          </a:prstGeom>
          <a:noFill/>
          <a:ln/>
        </p:spPr>
        <p:txBody>
          <a:bodyPr wrap="square" lIns="0" tIns="0" rIns="0" bIns="0" rtlCol="0" anchor="ctr"/>
          <a:lstStyle/>
          <a:p>
            <a:pPr marL="0" indent="0">
              <a:buNone/>
            </a:pPr>
            <a:r>
              <a:rPr lang="en-US" sz="1400" b="1" dirty="0">
                <a:solidFill>
                  <a:srgbClr val="2E8B82"/>
                </a:solidFill>
                <a:latin typeface="Arial" pitchFamily="34" charset="0"/>
                <a:ea typeface="Arial" pitchFamily="34" charset="-122"/>
                <a:cs typeface="Arial" pitchFamily="34" charset="-120"/>
              </a:rPr>
              <a:t>Key Capabilities Developed</a:t>
            </a:r>
            <a:endParaRPr lang="en-US" sz="1400" dirty="0"/>
          </a:p>
        </p:txBody>
      </p:sp>
      <p:sp>
        <p:nvSpPr>
          <p:cNvPr id="15" name="Shape 13"/>
          <p:cNvSpPr/>
          <p:nvPr/>
        </p:nvSpPr>
        <p:spPr>
          <a:xfrm>
            <a:off x="411480" y="3337560"/>
            <a:ext cx="3654552" cy="868680"/>
          </a:xfrm>
          <a:prstGeom prst="rect">
            <a:avLst/>
          </a:prstGeom>
          <a:solidFill>
            <a:srgbClr val="F2F4F6"/>
          </a:solidFill>
          <a:ln/>
        </p:spPr>
        <p:txBody>
          <a:bodyPr/>
          <a:lstStyle/>
          <a:p>
            <a:endParaRPr lang="en-US"/>
          </a:p>
        </p:txBody>
      </p:sp>
      <p:sp>
        <p:nvSpPr>
          <p:cNvPr id="16" name="Text 14"/>
          <p:cNvSpPr txBox="1"/>
          <p:nvPr/>
        </p:nvSpPr>
        <p:spPr>
          <a:xfrm>
            <a:off x="548640" y="3410712"/>
            <a:ext cx="3380232" cy="237744"/>
          </a:xfrm>
          <a:prstGeom prst="rect">
            <a:avLst/>
          </a:prstGeom>
          <a:noFill/>
          <a:ln/>
        </p:spPr>
        <p:txBody>
          <a:bodyPr wrap="square" lIns="0" tIns="0" rIns="0" bIns="0" rtlCol="0" anchor="ctr"/>
          <a:lstStyle/>
          <a:p>
            <a:pPr marL="0" indent="0">
              <a:buNone/>
            </a:pPr>
            <a:r>
              <a:rPr lang="en-US" sz="1150" b="1" dirty="0">
                <a:solidFill>
                  <a:srgbClr val="1B2A4A"/>
                </a:solidFill>
                <a:latin typeface="Arial" pitchFamily="34" charset="0"/>
                <a:ea typeface="Arial" pitchFamily="34" charset="-122"/>
                <a:cs typeface="Arial" pitchFamily="34" charset="-120"/>
              </a:rPr>
              <a:t>Process Discovery &amp; Mapping</a:t>
            </a:r>
            <a:endParaRPr lang="en-US" sz="1150" dirty="0"/>
          </a:p>
        </p:txBody>
      </p:sp>
      <p:sp>
        <p:nvSpPr>
          <p:cNvPr id="17" name="Text 15"/>
          <p:cNvSpPr txBox="1"/>
          <p:nvPr/>
        </p:nvSpPr>
        <p:spPr>
          <a:xfrm>
            <a:off x="548640" y="3648456"/>
            <a:ext cx="3380232" cy="484632"/>
          </a:xfrm>
          <a:prstGeom prst="rect">
            <a:avLst/>
          </a:prstGeom>
          <a:noFill/>
          <a:ln/>
        </p:spPr>
        <p:txBody>
          <a:bodyPr wrap="square" lIns="0" tIns="0" rIns="0" bIns="0" rtlCol="0" anchor="t"/>
          <a:lstStyle/>
          <a:p>
            <a:pPr marL="0" indent="0">
              <a:lnSpc>
                <a:spcPct val="105000"/>
              </a:lnSpc>
              <a:buNone/>
            </a:pPr>
            <a:r>
              <a:rPr lang="en-US" sz="950" dirty="0">
                <a:solidFill>
                  <a:srgbClr val="3C4A5E"/>
                </a:solidFill>
                <a:latin typeface="Arial" pitchFamily="34" charset="0"/>
                <a:ea typeface="Arial" pitchFamily="34" charset="-122"/>
                <a:cs typeface="Arial" pitchFamily="34" charset="-120"/>
              </a:rPr>
              <a:t>Learns the process from recordings, system logs and procedures; key users confirm every box, arrow and loop as the map redraws live.</a:t>
            </a:r>
            <a:endParaRPr lang="en-US" sz="950" dirty="0"/>
          </a:p>
        </p:txBody>
      </p:sp>
      <p:sp>
        <p:nvSpPr>
          <p:cNvPr id="18" name="Shape 16"/>
          <p:cNvSpPr/>
          <p:nvPr/>
        </p:nvSpPr>
        <p:spPr>
          <a:xfrm>
            <a:off x="4267200" y="3337560"/>
            <a:ext cx="3654552" cy="868680"/>
          </a:xfrm>
          <a:prstGeom prst="rect">
            <a:avLst/>
          </a:prstGeom>
          <a:solidFill>
            <a:srgbClr val="F2F4F6"/>
          </a:solidFill>
          <a:ln/>
        </p:spPr>
        <p:txBody>
          <a:bodyPr/>
          <a:lstStyle/>
          <a:p>
            <a:endParaRPr lang="en-US"/>
          </a:p>
        </p:txBody>
      </p:sp>
      <p:sp>
        <p:nvSpPr>
          <p:cNvPr id="19" name="Text 17"/>
          <p:cNvSpPr txBox="1"/>
          <p:nvPr/>
        </p:nvSpPr>
        <p:spPr>
          <a:xfrm>
            <a:off x="4404360" y="3410712"/>
            <a:ext cx="3380232" cy="237744"/>
          </a:xfrm>
          <a:prstGeom prst="rect">
            <a:avLst/>
          </a:prstGeom>
          <a:noFill/>
          <a:ln/>
        </p:spPr>
        <p:txBody>
          <a:bodyPr wrap="square" lIns="0" tIns="0" rIns="0" bIns="0" rtlCol="0" anchor="ctr"/>
          <a:lstStyle/>
          <a:p>
            <a:pPr marL="0" indent="0">
              <a:buNone/>
            </a:pPr>
            <a:r>
              <a:rPr lang="en-US" sz="1150" b="1" dirty="0">
                <a:solidFill>
                  <a:srgbClr val="1B2A4A"/>
                </a:solidFill>
                <a:latin typeface="Arial" pitchFamily="34" charset="0"/>
                <a:ea typeface="Arial" pitchFamily="34" charset="-122"/>
                <a:cs typeface="Arial" pitchFamily="34" charset="-120"/>
              </a:rPr>
              <a:t>AI Scenario Writing</a:t>
            </a:r>
            <a:endParaRPr lang="en-US" sz="1150" dirty="0"/>
          </a:p>
        </p:txBody>
      </p:sp>
      <p:sp>
        <p:nvSpPr>
          <p:cNvPr id="20" name="Text 18"/>
          <p:cNvSpPr txBox="1"/>
          <p:nvPr/>
        </p:nvSpPr>
        <p:spPr>
          <a:xfrm>
            <a:off x="4404360" y="3648456"/>
            <a:ext cx="3380232" cy="484632"/>
          </a:xfrm>
          <a:prstGeom prst="rect">
            <a:avLst/>
          </a:prstGeom>
          <a:noFill/>
          <a:ln/>
        </p:spPr>
        <p:txBody>
          <a:bodyPr wrap="square" lIns="0" tIns="0" rIns="0" bIns="0" rtlCol="0" anchor="t"/>
          <a:lstStyle/>
          <a:p>
            <a:pPr marL="0" indent="0">
              <a:lnSpc>
                <a:spcPct val="105000"/>
              </a:lnSpc>
              <a:buNone/>
            </a:pPr>
            <a:r>
              <a:rPr lang="en-US" sz="950" dirty="0">
                <a:solidFill>
                  <a:srgbClr val="3C4A5E"/>
                </a:solidFill>
                <a:latin typeface="Arial" pitchFamily="34" charset="0"/>
                <a:ea typeface="Arial" pitchFamily="34" charset="-122"/>
                <a:cs typeface="Arial" pitchFamily="34" charset="-120"/>
              </a:rPr>
              <a:t>The Scenario Writer agent turns the approved map into positive, negative and re-test scenarios, approved by a key user in Test Studio.</a:t>
            </a:r>
            <a:endParaRPr lang="en-US" sz="950" dirty="0"/>
          </a:p>
        </p:txBody>
      </p:sp>
      <p:sp>
        <p:nvSpPr>
          <p:cNvPr id="21" name="Shape 19"/>
          <p:cNvSpPr/>
          <p:nvPr/>
        </p:nvSpPr>
        <p:spPr>
          <a:xfrm>
            <a:off x="8122920" y="3337560"/>
            <a:ext cx="3654552" cy="868680"/>
          </a:xfrm>
          <a:prstGeom prst="rect">
            <a:avLst/>
          </a:prstGeom>
          <a:solidFill>
            <a:srgbClr val="F2F4F6"/>
          </a:solidFill>
          <a:ln/>
        </p:spPr>
        <p:txBody>
          <a:bodyPr/>
          <a:lstStyle/>
          <a:p>
            <a:endParaRPr lang="en-US"/>
          </a:p>
        </p:txBody>
      </p:sp>
      <p:sp>
        <p:nvSpPr>
          <p:cNvPr id="22" name="Text 20"/>
          <p:cNvSpPr txBox="1"/>
          <p:nvPr/>
        </p:nvSpPr>
        <p:spPr>
          <a:xfrm>
            <a:off x="8260080" y="3410712"/>
            <a:ext cx="3380232" cy="237744"/>
          </a:xfrm>
          <a:prstGeom prst="rect">
            <a:avLst/>
          </a:prstGeom>
          <a:noFill/>
          <a:ln/>
        </p:spPr>
        <p:txBody>
          <a:bodyPr wrap="square" lIns="0" tIns="0" rIns="0" bIns="0" rtlCol="0" anchor="ctr"/>
          <a:lstStyle/>
          <a:p>
            <a:pPr marL="0" indent="0">
              <a:buNone/>
            </a:pPr>
            <a:r>
              <a:rPr lang="en-US" sz="1150" b="1" dirty="0">
                <a:solidFill>
                  <a:srgbClr val="1B2A4A"/>
                </a:solidFill>
                <a:latin typeface="Arial" pitchFamily="34" charset="0"/>
                <a:ea typeface="Arial" pitchFamily="34" charset="-122"/>
                <a:cs typeface="Arial" pitchFamily="34" charset="-120"/>
              </a:rPr>
              <a:t>Cross-System Live Checks</a:t>
            </a:r>
            <a:endParaRPr lang="en-US" sz="1150" dirty="0"/>
          </a:p>
        </p:txBody>
      </p:sp>
      <p:sp>
        <p:nvSpPr>
          <p:cNvPr id="23" name="Text 21"/>
          <p:cNvSpPr txBox="1"/>
          <p:nvPr/>
        </p:nvSpPr>
        <p:spPr>
          <a:xfrm>
            <a:off x="8260080" y="3648456"/>
            <a:ext cx="3380232" cy="484632"/>
          </a:xfrm>
          <a:prstGeom prst="rect">
            <a:avLst/>
          </a:prstGeom>
          <a:noFill/>
          <a:ln/>
        </p:spPr>
        <p:txBody>
          <a:bodyPr wrap="square" lIns="0" tIns="0" rIns="0" bIns="0" rtlCol="0" anchor="t"/>
          <a:lstStyle/>
          <a:p>
            <a:pPr marL="0" indent="0">
              <a:lnSpc>
                <a:spcPct val="105000"/>
              </a:lnSpc>
              <a:buNone/>
            </a:pPr>
            <a:r>
              <a:rPr lang="en-US" sz="950" dirty="0">
                <a:solidFill>
                  <a:srgbClr val="3C4A5E"/>
                </a:solidFill>
                <a:latin typeface="Arial" pitchFamily="34" charset="0"/>
                <a:ea typeface="Arial" pitchFamily="34" charset="-122"/>
                <a:cs typeface="Arial" pitchFamily="34" charset="-120"/>
              </a:rPr>
              <a:t>Fourteen checks compare records across 22 tables and 19 interfaces every few minutes, naming the exact cause down to one record.</a:t>
            </a:r>
            <a:endParaRPr lang="en-US" sz="950" dirty="0"/>
          </a:p>
        </p:txBody>
      </p:sp>
      <p:sp>
        <p:nvSpPr>
          <p:cNvPr id="24" name="Shape 22"/>
          <p:cNvSpPr/>
          <p:nvPr/>
        </p:nvSpPr>
        <p:spPr>
          <a:xfrm>
            <a:off x="411480" y="4334256"/>
            <a:ext cx="3654552" cy="868680"/>
          </a:xfrm>
          <a:prstGeom prst="rect">
            <a:avLst/>
          </a:prstGeom>
          <a:solidFill>
            <a:srgbClr val="F2F4F6"/>
          </a:solidFill>
          <a:ln/>
        </p:spPr>
        <p:txBody>
          <a:bodyPr/>
          <a:lstStyle/>
          <a:p>
            <a:endParaRPr lang="en-US"/>
          </a:p>
        </p:txBody>
      </p:sp>
      <p:sp>
        <p:nvSpPr>
          <p:cNvPr id="25" name="Text 23"/>
          <p:cNvSpPr txBox="1"/>
          <p:nvPr/>
        </p:nvSpPr>
        <p:spPr>
          <a:xfrm>
            <a:off x="548640" y="4407408"/>
            <a:ext cx="3380232" cy="237744"/>
          </a:xfrm>
          <a:prstGeom prst="rect">
            <a:avLst/>
          </a:prstGeom>
          <a:noFill/>
          <a:ln/>
        </p:spPr>
        <p:txBody>
          <a:bodyPr wrap="square" lIns="0" tIns="0" rIns="0" bIns="0" rtlCol="0" anchor="ctr"/>
          <a:lstStyle/>
          <a:p>
            <a:pPr marL="0" indent="0">
              <a:buNone/>
            </a:pPr>
            <a:r>
              <a:rPr lang="en-US" sz="1150" b="1" dirty="0">
                <a:solidFill>
                  <a:srgbClr val="1B2A4A"/>
                </a:solidFill>
                <a:latin typeface="Arial" pitchFamily="34" charset="0"/>
                <a:ea typeface="Arial" pitchFamily="34" charset="-122"/>
                <a:cs typeface="Arial" pitchFamily="34" charset="-120"/>
              </a:rPr>
              <a:t>Self-Healing Test Runs</a:t>
            </a:r>
            <a:endParaRPr lang="en-US" sz="1150" dirty="0"/>
          </a:p>
        </p:txBody>
      </p:sp>
      <p:sp>
        <p:nvSpPr>
          <p:cNvPr id="26" name="Text 24"/>
          <p:cNvSpPr txBox="1"/>
          <p:nvPr/>
        </p:nvSpPr>
        <p:spPr>
          <a:xfrm>
            <a:off x="548640" y="4645152"/>
            <a:ext cx="3380232" cy="484632"/>
          </a:xfrm>
          <a:prstGeom prst="rect">
            <a:avLst/>
          </a:prstGeom>
          <a:noFill/>
          <a:ln/>
        </p:spPr>
        <p:txBody>
          <a:bodyPr wrap="square" lIns="0" tIns="0" rIns="0" bIns="0" rtlCol="0" anchor="t"/>
          <a:lstStyle/>
          <a:p>
            <a:pPr marL="0" indent="0">
              <a:lnSpc>
                <a:spcPct val="105000"/>
              </a:lnSpc>
              <a:buNone/>
            </a:pPr>
            <a:r>
              <a:rPr lang="en-US" sz="950" dirty="0">
                <a:solidFill>
                  <a:srgbClr val="3C4A5E"/>
                </a:solidFill>
                <a:latin typeface="Arial" pitchFamily="34" charset="0"/>
                <a:ea typeface="Arial" pitchFamily="34" charset="-122"/>
                <a:cs typeface="Arial" pitchFamily="34" charset="-120"/>
              </a:rPr>
              <a:t>Scheduled runs across every project; a broken step heals itself, and failures raise findings with a screenshot and log per step.</a:t>
            </a:r>
            <a:endParaRPr lang="en-US" sz="950" dirty="0"/>
          </a:p>
        </p:txBody>
      </p:sp>
      <p:sp>
        <p:nvSpPr>
          <p:cNvPr id="27" name="Shape 25"/>
          <p:cNvSpPr/>
          <p:nvPr/>
        </p:nvSpPr>
        <p:spPr>
          <a:xfrm>
            <a:off x="4267200" y="4334256"/>
            <a:ext cx="3654552" cy="868680"/>
          </a:xfrm>
          <a:prstGeom prst="rect">
            <a:avLst/>
          </a:prstGeom>
          <a:solidFill>
            <a:srgbClr val="F2F4F6"/>
          </a:solidFill>
          <a:ln/>
        </p:spPr>
        <p:txBody>
          <a:bodyPr/>
          <a:lstStyle/>
          <a:p>
            <a:endParaRPr lang="en-US"/>
          </a:p>
        </p:txBody>
      </p:sp>
      <p:sp>
        <p:nvSpPr>
          <p:cNvPr id="28" name="Text 26"/>
          <p:cNvSpPr txBox="1"/>
          <p:nvPr/>
        </p:nvSpPr>
        <p:spPr>
          <a:xfrm>
            <a:off x="4404360" y="4407408"/>
            <a:ext cx="3380232" cy="237744"/>
          </a:xfrm>
          <a:prstGeom prst="rect">
            <a:avLst/>
          </a:prstGeom>
          <a:noFill/>
          <a:ln/>
        </p:spPr>
        <p:txBody>
          <a:bodyPr wrap="square" lIns="0" tIns="0" rIns="0" bIns="0" rtlCol="0" anchor="ctr"/>
          <a:lstStyle/>
          <a:p>
            <a:pPr marL="0" indent="0">
              <a:buNone/>
            </a:pPr>
            <a:r>
              <a:rPr lang="en-US" sz="1150" b="1" dirty="0">
                <a:solidFill>
                  <a:srgbClr val="1B2A4A"/>
                </a:solidFill>
                <a:latin typeface="Arial" pitchFamily="34" charset="0"/>
                <a:ea typeface="Arial" pitchFamily="34" charset="-122"/>
                <a:cs typeface="Arial" pitchFamily="34" charset="-120"/>
              </a:rPr>
              <a:t>Confidence Score &amp; Release Gate</a:t>
            </a:r>
            <a:endParaRPr lang="en-US" sz="1150" dirty="0"/>
          </a:p>
        </p:txBody>
      </p:sp>
      <p:sp>
        <p:nvSpPr>
          <p:cNvPr id="29" name="Text 27"/>
          <p:cNvSpPr txBox="1"/>
          <p:nvPr/>
        </p:nvSpPr>
        <p:spPr>
          <a:xfrm>
            <a:off x="4404360" y="4645152"/>
            <a:ext cx="3380232" cy="484632"/>
          </a:xfrm>
          <a:prstGeom prst="rect">
            <a:avLst/>
          </a:prstGeom>
          <a:noFill/>
          <a:ln/>
        </p:spPr>
        <p:txBody>
          <a:bodyPr wrap="square" lIns="0" tIns="0" rIns="0" bIns="0" rtlCol="0" anchor="t"/>
          <a:lstStyle/>
          <a:p>
            <a:pPr marL="0" indent="0">
              <a:lnSpc>
                <a:spcPct val="105000"/>
              </a:lnSpc>
              <a:buNone/>
            </a:pPr>
            <a:r>
              <a:rPr lang="en-US" sz="950" dirty="0">
                <a:solidFill>
                  <a:srgbClr val="3C4A5E"/>
                </a:solidFill>
                <a:latin typeface="Arial" pitchFamily="34" charset="0"/>
                <a:ea typeface="Arial" pitchFamily="34" charset="-122"/>
                <a:cs typeface="Arial" pitchFamily="34" charset="-120"/>
              </a:rPr>
              <a:t>One score from four weighted criteria — data agreement, scenario results, interface integrity, open findings — sets the release gate.</a:t>
            </a:r>
            <a:endParaRPr lang="en-US" sz="950" dirty="0"/>
          </a:p>
        </p:txBody>
      </p:sp>
      <p:sp>
        <p:nvSpPr>
          <p:cNvPr id="30" name="Shape 28"/>
          <p:cNvSpPr/>
          <p:nvPr/>
        </p:nvSpPr>
        <p:spPr>
          <a:xfrm>
            <a:off x="8122920" y="4334256"/>
            <a:ext cx="3654552" cy="868680"/>
          </a:xfrm>
          <a:prstGeom prst="rect">
            <a:avLst/>
          </a:prstGeom>
          <a:solidFill>
            <a:srgbClr val="F2F4F6"/>
          </a:solidFill>
          <a:ln/>
        </p:spPr>
        <p:txBody>
          <a:bodyPr/>
          <a:lstStyle/>
          <a:p>
            <a:endParaRPr lang="en-US"/>
          </a:p>
        </p:txBody>
      </p:sp>
      <p:sp>
        <p:nvSpPr>
          <p:cNvPr id="31" name="Text 29"/>
          <p:cNvSpPr txBox="1"/>
          <p:nvPr/>
        </p:nvSpPr>
        <p:spPr>
          <a:xfrm>
            <a:off x="8260080" y="4407408"/>
            <a:ext cx="3380232" cy="237744"/>
          </a:xfrm>
          <a:prstGeom prst="rect">
            <a:avLst/>
          </a:prstGeom>
          <a:noFill/>
          <a:ln/>
        </p:spPr>
        <p:txBody>
          <a:bodyPr wrap="square" lIns="0" tIns="0" rIns="0" bIns="0" rtlCol="0" anchor="ctr"/>
          <a:lstStyle/>
          <a:p>
            <a:pPr marL="0" indent="0">
              <a:buNone/>
            </a:pPr>
            <a:r>
              <a:rPr lang="en-US" sz="1150" b="1" dirty="0">
                <a:solidFill>
                  <a:srgbClr val="1B2A4A"/>
                </a:solidFill>
                <a:latin typeface="Arial" pitchFamily="34" charset="0"/>
                <a:ea typeface="Arial" pitchFamily="34" charset="-122"/>
                <a:cs typeface="Arial" pitchFamily="34" charset="-120"/>
              </a:rPr>
              <a:t>Change Impact &amp; Regression</a:t>
            </a:r>
            <a:endParaRPr lang="en-US" sz="1150" dirty="0"/>
          </a:p>
        </p:txBody>
      </p:sp>
      <p:sp>
        <p:nvSpPr>
          <p:cNvPr id="32" name="Text 30"/>
          <p:cNvSpPr txBox="1"/>
          <p:nvPr/>
        </p:nvSpPr>
        <p:spPr>
          <a:xfrm>
            <a:off x="8260080" y="4645152"/>
            <a:ext cx="3380232" cy="484632"/>
          </a:xfrm>
          <a:prstGeom prst="rect">
            <a:avLst/>
          </a:prstGeom>
          <a:noFill/>
          <a:ln/>
        </p:spPr>
        <p:txBody>
          <a:bodyPr wrap="square" lIns="0" tIns="0" rIns="0" bIns="0" rtlCol="0" anchor="t"/>
          <a:lstStyle/>
          <a:p>
            <a:pPr marL="0" indent="0">
              <a:lnSpc>
                <a:spcPct val="105000"/>
              </a:lnSpc>
              <a:buNone/>
            </a:pPr>
            <a:r>
              <a:rPr lang="en-US" sz="950" dirty="0">
                <a:solidFill>
                  <a:srgbClr val="3C4A5E"/>
                </a:solidFill>
                <a:latin typeface="Arial" pitchFamily="34" charset="0"/>
                <a:ea typeface="Arial" pitchFamily="34" charset="-122"/>
                <a:cs typeface="Arial" pitchFamily="34" charset="-120"/>
              </a:rPr>
              <a:t>A raised finding is traced to the change it touches; only the affected tests re-run, compared before and after.</a:t>
            </a:r>
            <a:endParaRPr lang="en-US" sz="950" dirty="0"/>
          </a:p>
        </p:txBody>
      </p:sp>
      <p:sp>
        <p:nvSpPr>
          <p:cNvPr id="33" name="Shape 31"/>
          <p:cNvSpPr/>
          <p:nvPr/>
        </p:nvSpPr>
        <p:spPr>
          <a:xfrm>
            <a:off x="411480" y="5532120"/>
            <a:ext cx="11365992" cy="1051560"/>
          </a:xfrm>
          <a:prstGeom prst="rect">
            <a:avLst/>
          </a:prstGeom>
          <a:solidFill>
            <a:srgbClr val="1F6F66"/>
          </a:solidFill>
          <a:ln/>
        </p:spPr>
        <p:txBody>
          <a:bodyPr/>
          <a:lstStyle/>
          <a:p>
            <a:endParaRPr lang="en-US"/>
          </a:p>
        </p:txBody>
      </p:sp>
      <p:sp>
        <p:nvSpPr>
          <p:cNvPr id="34" name="Text 32"/>
          <p:cNvSpPr txBox="1"/>
          <p:nvPr/>
        </p:nvSpPr>
        <p:spPr>
          <a:xfrm>
            <a:off x="594360" y="5678424"/>
            <a:ext cx="3422904"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100%</a:t>
            </a:r>
            <a:endParaRPr lang="en-US" sz="2600" dirty="0"/>
          </a:p>
        </p:txBody>
      </p:sp>
      <p:sp>
        <p:nvSpPr>
          <p:cNvPr id="35" name="Text 33"/>
          <p:cNvSpPr txBox="1"/>
          <p:nvPr/>
        </p:nvSpPr>
        <p:spPr>
          <a:xfrm>
            <a:off x="685800" y="6135624"/>
            <a:ext cx="3240024" cy="365760"/>
          </a:xfrm>
          <a:prstGeom prst="rect">
            <a:avLst/>
          </a:prstGeom>
          <a:noFill/>
          <a:ln/>
        </p:spPr>
        <p:txBody>
          <a:bodyPr wrap="square" lIns="0" tIns="0" rIns="0" bIns="0" rtlCol="0" anchor="t"/>
          <a:lstStyle/>
          <a:p>
            <a:pPr marL="0" indent="0" algn="ctr">
              <a:lnSpc>
                <a:spcPct val="105000"/>
              </a:lnSpc>
              <a:buNone/>
            </a:pPr>
            <a:r>
              <a:rPr lang="en-US" sz="1000" dirty="0">
                <a:solidFill>
                  <a:srgbClr val="FFFFFF"/>
                </a:solidFill>
                <a:latin typeface="Arial" pitchFamily="34" charset="0"/>
                <a:ea typeface="Arial" pitchFamily="34" charset="-122"/>
                <a:cs typeface="Arial" pitchFamily="34" charset="-120"/>
              </a:rPr>
              <a:t>of the testing journey automated — discovery, scenarios, runs, checks and release evidence</a:t>
            </a:r>
            <a:endParaRPr lang="en-US" sz="1000" dirty="0"/>
          </a:p>
        </p:txBody>
      </p:sp>
      <p:sp>
        <p:nvSpPr>
          <p:cNvPr id="36" name="Text 34"/>
          <p:cNvSpPr txBox="1"/>
          <p:nvPr/>
        </p:nvSpPr>
        <p:spPr>
          <a:xfrm>
            <a:off x="4383024" y="5678424"/>
            <a:ext cx="3422904"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14 checks</a:t>
            </a:r>
            <a:endParaRPr lang="en-US" sz="2600" dirty="0"/>
          </a:p>
        </p:txBody>
      </p:sp>
      <p:sp>
        <p:nvSpPr>
          <p:cNvPr id="37" name="Text 35"/>
          <p:cNvSpPr txBox="1"/>
          <p:nvPr/>
        </p:nvSpPr>
        <p:spPr>
          <a:xfrm>
            <a:off x="4474464" y="6135624"/>
            <a:ext cx="3240024" cy="365760"/>
          </a:xfrm>
          <a:prstGeom prst="rect">
            <a:avLst/>
          </a:prstGeom>
          <a:noFill/>
          <a:ln/>
        </p:spPr>
        <p:txBody>
          <a:bodyPr wrap="square" lIns="0" tIns="0" rIns="0" bIns="0" rtlCol="0" anchor="t"/>
          <a:lstStyle/>
          <a:p>
            <a:pPr marL="0" indent="0" algn="ctr">
              <a:lnSpc>
                <a:spcPct val="105000"/>
              </a:lnSpc>
              <a:buNone/>
            </a:pPr>
            <a:r>
              <a:rPr lang="en-US" sz="1000" dirty="0">
                <a:solidFill>
                  <a:srgbClr val="FFFFFF"/>
                </a:solidFill>
                <a:latin typeface="Arial" pitchFamily="34" charset="0"/>
                <a:ea typeface="Arial" pitchFamily="34" charset="-122"/>
                <a:cs typeface="Arial" pitchFamily="34" charset="-120"/>
              </a:rPr>
              <a:t>running every few minutes across 22 tables and 19 interfaces, catching mismatches live</a:t>
            </a:r>
            <a:endParaRPr lang="en-US" sz="1000" dirty="0"/>
          </a:p>
        </p:txBody>
      </p:sp>
      <p:sp>
        <p:nvSpPr>
          <p:cNvPr id="38" name="Text 36"/>
          <p:cNvSpPr txBox="1"/>
          <p:nvPr/>
        </p:nvSpPr>
        <p:spPr>
          <a:xfrm>
            <a:off x="8171688" y="5678424"/>
            <a:ext cx="3422904"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10 days → minutes</a:t>
            </a:r>
            <a:endParaRPr lang="en-US" sz="2600" dirty="0"/>
          </a:p>
        </p:txBody>
      </p:sp>
      <p:sp>
        <p:nvSpPr>
          <p:cNvPr id="39" name="Text 37"/>
          <p:cNvSpPr txBox="1"/>
          <p:nvPr/>
        </p:nvSpPr>
        <p:spPr>
          <a:xfrm>
            <a:off x="8263128" y="6135624"/>
            <a:ext cx="3240024" cy="365760"/>
          </a:xfrm>
          <a:prstGeom prst="rect">
            <a:avLst/>
          </a:prstGeom>
          <a:noFill/>
          <a:ln/>
        </p:spPr>
        <p:txBody>
          <a:bodyPr wrap="square" lIns="0" tIns="0" rIns="0" bIns="0" rtlCol="0" anchor="t"/>
          <a:lstStyle/>
          <a:p>
            <a:pPr marL="0" indent="0" algn="ctr">
              <a:lnSpc>
                <a:spcPct val="105000"/>
              </a:lnSpc>
              <a:buNone/>
            </a:pPr>
            <a:r>
              <a:rPr lang="en-US" sz="1000" dirty="0">
                <a:solidFill>
                  <a:srgbClr val="FFFFFF"/>
                </a:solidFill>
                <a:latin typeface="Arial" pitchFamily="34" charset="0"/>
                <a:ea typeface="Arial" pitchFamily="34" charset="-122"/>
                <a:cs typeface="Arial" pitchFamily="34" charset="-120"/>
              </a:rPr>
              <a:t>the month-end freeze proof, from a manual walk-through to a sealed, auditor-ready evidence pack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430</Words>
  <Application>Microsoft Office PowerPoint</Application>
  <PresentationFormat>Widescreen</PresentationFormat>
  <Paragraphs>26</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Ramadevi Unnam</cp:lastModifiedBy>
  <cp:revision>1</cp:revision>
  <dcterms:created xsi:type="dcterms:W3CDTF">2026-10-21T12:14:35Z</dcterms:created>
  <dcterms:modified xsi:type="dcterms:W3CDTF">2026-10-21T12:18:04Z</dcterms:modified>
</cp:coreProperties>
</file>